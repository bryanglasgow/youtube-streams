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Noto Sans" panose="020B0502040504020204" pitchFamily="34" charset="0"/>
      <p:regular r:id="rId15"/>
      <p:bold r:id="rId16"/>
      <p:italic r:id="rId17"/>
      <p:boldItalic r:id="rId18"/>
    </p:embeddedFont>
    <p:embeddedFont>
      <p:font typeface="Noto Sans Bold" panose="020B0502040504020204" pitchFamily="34" charset="0"/>
      <p:regular r:id="rId19"/>
      <p:bold r:id="rId20"/>
    </p:embeddedFont>
    <p:embeddedFont>
      <p:font typeface="Noto Sans Italics" panose="020B0604020202020204" charset="0"/>
      <p:regular r:id="rId21"/>
    </p:embeddedFont>
    <p:embeddedFont>
      <p:font typeface="Noto Serif Bold Italics" panose="020B0604020202020204" charset="0"/>
      <p:regular r:id="rId22"/>
    </p:embeddedFont>
    <p:embeddedFont>
      <p:font typeface="Noto Serif Italics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8247" y="0"/>
            <a:ext cx="8269753" cy="10287000"/>
            <a:chOff x="0" y="0"/>
            <a:chExt cx="1298599" cy="16153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8599" cy="1615367"/>
            </a:xfrm>
            <a:custGeom>
              <a:avLst/>
              <a:gdLst/>
              <a:ahLst/>
              <a:cxnLst/>
              <a:rect l="l" t="t" r="r" b="b"/>
              <a:pathLst>
                <a:path w="1298599" h="1615367">
                  <a:moveTo>
                    <a:pt x="0" y="0"/>
                  </a:moveTo>
                  <a:lnTo>
                    <a:pt x="1298599" y="0"/>
                  </a:lnTo>
                  <a:lnTo>
                    <a:pt x="1298599" y="1615367"/>
                  </a:lnTo>
                  <a:lnTo>
                    <a:pt x="0" y="161536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527748" y="-66319"/>
            <a:ext cx="3474006" cy="2455575"/>
          </a:xfrm>
          <a:custGeom>
            <a:avLst/>
            <a:gdLst/>
            <a:ahLst/>
            <a:cxnLst/>
            <a:rect l="l" t="t" r="r" b="b"/>
            <a:pathLst>
              <a:path w="3474006" h="2455575">
                <a:moveTo>
                  <a:pt x="0" y="0"/>
                </a:moveTo>
                <a:lnTo>
                  <a:pt x="3474006" y="0"/>
                </a:lnTo>
                <a:lnTo>
                  <a:pt x="3474006" y="2455575"/>
                </a:lnTo>
                <a:lnTo>
                  <a:pt x="0" y="245557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613" y="3128533"/>
            <a:ext cx="7929577" cy="4279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Studying [PROGRAMME NAME] MSc</a:t>
            </a:r>
          </a:p>
          <a:p>
            <a:pPr algn="l">
              <a:lnSpc>
                <a:spcPts val="8350"/>
              </a:lnSpc>
            </a:pPr>
            <a:r>
              <a:rPr lang="en-US" sz="8350" spc="-367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at Glasgow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613" y="8133291"/>
            <a:ext cx="8314327" cy="936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7"/>
              </a:lnSpc>
            </a:pPr>
            <a:r>
              <a:rPr lang="en-US" sz="2936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Change how the past informs the future in the UK’s top city for culture and creativity*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59951" y="9773853"/>
            <a:ext cx="4078256" cy="237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4"/>
              </a:lnSpc>
            </a:pPr>
            <a:r>
              <a:rPr lang="en-US" sz="1531" i="1">
                <a:solidFill>
                  <a:srgbClr val="01134E"/>
                </a:solidFill>
                <a:latin typeface="Noto Sans Italics"/>
                <a:ea typeface="Noto Sans Italics"/>
                <a:cs typeface="Noto Sans Italics"/>
                <a:sym typeface="Noto Sans Italics"/>
              </a:rPr>
              <a:t>*European Commission,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88029" y="0"/>
            <a:ext cx="4299971" cy="10287000"/>
            <a:chOff x="0" y="0"/>
            <a:chExt cx="633617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3617" cy="1515828"/>
            </a:xfrm>
            <a:custGeom>
              <a:avLst/>
              <a:gdLst/>
              <a:ahLst/>
              <a:cxnLst/>
              <a:rect l="l" t="t" r="r" b="b"/>
              <a:pathLst>
                <a:path w="633617" h="1515828">
                  <a:moveTo>
                    <a:pt x="0" y="0"/>
                  </a:moveTo>
                  <a:lnTo>
                    <a:pt x="633617" y="0"/>
                  </a:lnTo>
                  <a:lnTo>
                    <a:pt x="633617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4598094" y="587562"/>
            <a:ext cx="8959068" cy="134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47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Introducing [PROGRAMME NAME] MSc at Glasgow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425" y="2436108"/>
            <a:ext cx="12974738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1:  </a:t>
            </a:r>
            <a:r>
              <a:rPr lang="en-US" sz="31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 one-year Masters programme that...</a:t>
            </a:r>
          </a:p>
          <a:p>
            <a:pPr algn="l">
              <a:lnSpc>
                <a:spcPts val="4479"/>
              </a:lnSpc>
            </a:pPr>
            <a:endParaRPr lang="en-US" sz="31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2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90879" lvl="1" indent="-345439" algn="l">
              <a:lnSpc>
                <a:spcPts val="4479"/>
              </a:lnSpc>
              <a:buFont typeface="Arial"/>
              <a:buChar char="•"/>
            </a:pPr>
            <a:r>
              <a:rPr lang="en-US" sz="31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Headline 3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538604"/>
            <a:ext cx="1146875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Meet Your Programme Convenor</a:t>
            </a: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</a:t>
            </a: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Professor/Dr...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8068" y="2683981"/>
            <a:ext cx="7902882" cy="173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role at UofG </a:t>
            </a:r>
          </a:p>
          <a:p>
            <a:pPr algn="l">
              <a:lnSpc>
                <a:spcPts val="1475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Your research interests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75794" y="2683981"/>
            <a:ext cx="8645088" cy="207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Key awards and recent publications </a:t>
            </a:r>
          </a:p>
          <a:p>
            <a:pPr marL="636929" lvl="1" indent="-318464" algn="l">
              <a:lnSpc>
                <a:spcPts val="4130"/>
              </a:lnSpc>
              <a:buFont typeface="Arial"/>
              <a:buChar char="•"/>
            </a:pPr>
            <a:r>
              <a:rPr lang="en-US" sz="295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Other relevant info</a:t>
            </a: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130"/>
              </a:lnSpc>
            </a:pPr>
            <a:endParaRPr lang="en-US" sz="295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D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469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1: 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What skills and knowledge will students gain?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2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resources, equipment and/or networks will students have access to?</a:t>
            </a:r>
          </a:p>
          <a:p>
            <a:pPr algn="l">
              <a:lnSpc>
                <a:spcPts val="154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COPY 3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: What challenges and careers will the programme prepare them for? 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8467769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Study [PROGRAMME] Today?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A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4617144" y="895792"/>
            <a:ext cx="10182701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Why Choose Glasgow?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1384" y="2509225"/>
            <a:ext cx="16607916" cy="7203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Study at a World Top 70 University for Arts &amp; Humanities 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(QS, 2026), located in one of Europe's most vibrant cultural cities –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UK's friendliest city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(Condé Nast, 2025) – on our world-changing campus in the heart of the West End, the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20th coolest neighbourhood in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world 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(Time Out, 2023)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home to some of the world's most significant historical collections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 our students have direct access to them </a:t>
            </a: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–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including holdings within the University's Library, Archives &amp; Special Collections, The Hunterian Museum and Art Gallery, and Scotland's Theatre Archive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Glasgow is the creative hub of Scotland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home to 41% of its actors, dancers and broadcasters, 38% of its musicians, and 29% of its artists and graphic designers</a:t>
            </a:r>
          </a:p>
          <a:p>
            <a:pPr algn="l">
              <a:lnSpc>
                <a:spcPts val="1457"/>
              </a:lnSpc>
            </a:pPr>
            <a:endParaRPr lang="en-US" sz="2914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29294" lvl="1" indent="-314647" algn="l">
              <a:lnSpc>
                <a:spcPts val="4080"/>
              </a:lnSpc>
              <a:buFont typeface="Arial"/>
              <a:buChar char="•"/>
            </a:pPr>
            <a:r>
              <a:rPr lang="en-US" sz="291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Join a Russell Group university community of 43,000 students from 140 countries</a:t>
            </a:r>
            <a:r>
              <a:rPr lang="en-US" sz="291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 global alumni network of over 300,000, and a city with deep local creative roots and genuine global reach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68846" y="5111028"/>
            <a:ext cx="4619154" cy="5175972"/>
            <a:chOff x="0" y="0"/>
            <a:chExt cx="680650" cy="7626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3668846" y="0"/>
            <a:ext cx="4619154" cy="5175972"/>
            <a:chOff x="0" y="0"/>
            <a:chExt cx="680650" cy="7626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0650" cy="762699"/>
            </a:xfrm>
            <a:custGeom>
              <a:avLst/>
              <a:gdLst/>
              <a:ahLst/>
              <a:cxnLst/>
              <a:rect l="l" t="t" r="r" b="b"/>
              <a:pathLst>
                <a:path w="680650" h="762699">
                  <a:moveTo>
                    <a:pt x="0" y="0"/>
                  </a:moveTo>
                  <a:lnTo>
                    <a:pt x="680650" y="0"/>
                  </a:lnTo>
                  <a:lnTo>
                    <a:pt x="680650" y="762699"/>
                  </a:lnTo>
                  <a:lnTo>
                    <a:pt x="0" y="762699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32334" y="2588662"/>
            <a:ext cx="12452579" cy="7569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Provide details of the opportunities available to students on your programme that support skills development, employability, and engagement with industry, e.g. 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Practical and technical skills development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Industry engagement activities (e.g. guest speakers, live projects, site visits, networking events)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Student placements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Internships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Work-based learning opportunities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Professional development activities and accreditation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Applied or experiential learning approaches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Employer involvement in curriculum design, delivery, assessment, or student experiences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17144" y="895792"/>
            <a:ext cx="8467769" cy="73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Skills Will I develop?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86911" y="0"/>
            <a:ext cx="4701089" cy="10287000"/>
            <a:chOff x="0" y="0"/>
            <a:chExt cx="692723" cy="15158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2723" cy="1515828"/>
            </a:xfrm>
            <a:custGeom>
              <a:avLst/>
              <a:gdLst/>
              <a:ahLst/>
              <a:cxnLst/>
              <a:rect l="l" t="t" r="r" b="b"/>
              <a:pathLst>
                <a:path w="692723" h="1515828">
                  <a:moveTo>
                    <a:pt x="0" y="0"/>
                  </a:moveTo>
                  <a:lnTo>
                    <a:pt x="692723" y="0"/>
                  </a:lnTo>
                  <a:lnTo>
                    <a:pt x="692723" y="1515828"/>
                  </a:lnTo>
                  <a:lnTo>
                    <a:pt x="0" y="1515828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64862"/>
            <a:ext cx="12351191" cy="2683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[COURSE TITLE] + 1 - 2 sentence summary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[programme catalogue], the School of Humanities, and the College of Arts &amp; Humanities. Courses can include [EXAMPLE 1], [EXAMPLE 2], and [EXAMPLE 3].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5A1C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C0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98710" y="4900553"/>
            <a:ext cx="2589290" cy="5386447"/>
            <a:chOff x="0" y="0"/>
            <a:chExt cx="384375" cy="7996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375" cy="799607"/>
            </a:xfrm>
            <a:custGeom>
              <a:avLst/>
              <a:gdLst/>
              <a:ahLst/>
              <a:cxnLst/>
              <a:rect l="l" t="t" r="r" b="b"/>
              <a:pathLst>
                <a:path w="384375" h="799607">
                  <a:moveTo>
                    <a:pt x="0" y="0"/>
                  </a:moveTo>
                  <a:lnTo>
                    <a:pt x="384375" y="0"/>
                  </a:lnTo>
                  <a:lnTo>
                    <a:pt x="384375" y="799607"/>
                  </a:lnTo>
                  <a:lnTo>
                    <a:pt x="0" y="799607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5698710" y="0"/>
            <a:ext cx="2589290" cy="5143500"/>
            <a:chOff x="0" y="0"/>
            <a:chExt cx="384375" cy="7635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4375" cy="763542"/>
            </a:xfrm>
            <a:custGeom>
              <a:avLst/>
              <a:gdLst/>
              <a:ahLst/>
              <a:cxnLst/>
              <a:rect l="l" t="t" r="r" b="b"/>
              <a:pathLst>
                <a:path w="384375" h="763542">
                  <a:moveTo>
                    <a:pt x="0" y="0"/>
                  </a:moveTo>
                  <a:lnTo>
                    <a:pt x="384375" y="0"/>
                  </a:lnTo>
                  <a:lnTo>
                    <a:pt x="384375" y="763542"/>
                  </a:lnTo>
                  <a:lnTo>
                    <a:pt x="0" y="763542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621609" y="2514600"/>
            <a:ext cx="14462776" cy="516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Core Course: [TITLE] +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1 - 2 sentence summary.</a:t>
            </a:r>
          </a:p>
          <a:p>
            <a:pPr algn="l">
              <a:lnSpc>
                <a:spcPts val="1500"/>
              </a:lnSpc>
            </a:pPr>
            <a:endParaRPr lang="en-US" sz="3000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Choose from further optional modules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, the School of Humanities, and the College of Arts &amp; Humanities. Courses can include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[EXAMPLE 1], [EXAMPLE 2]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[EXAMPLE 3].</a:t>
            </a:r>
          </a:p>
          <a:p>
            <a:pPr algn="l">
              <a:lnSpc>
                <a:spcPts val="1500"/>
              </a:lnSpc>
            </a:pPr>
            <a:endParaRPr lang="en-US" sz="3000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 the summer, you will undertake your Dissertation.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You will plan and execute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 original research project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on a topic of your choosing, relevant to [PROGRAMME], </a:t>
            </a:r>
            <a:r>
              <a:rPr lang="en-US" sz="3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producing a substantial piece of writing</a:t>
            </a:r>
            <a:r>
              <a:rPr lang="en-US" sz="3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(approx. NUMBER words) This is the culmination of your studies, and an opportunity to explore a topic which matters to you and your future career.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What Will I Study?</a:t>
            </a:r>
          </a:p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Semester 2 &amp; Summer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89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41964" y="5143500"/>
            <a:ext cx="4346036" cy="5143500"/>
            <a:chOff x="0" y="0"/>
            <a:chExt cx="667254" cy="789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41859" y="2693437"/>
            <a:ext cx="12569685" cy="376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Graduates can go on to careers in...</a:t>
            </a:r>
          </a:p>
          <a:p>
            <a:pPr algn="l">
              <a:lnSpc>
                <a:spcPts val="4339"/>
              </a:lnSpc>
            </a:pPr>
            <a:endParaRPr lang="en-US" sz="3099" b="1">
              <a:solidFill>
                <a:srgbClr val="01134E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The programme prepares you for 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employment in ...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, and</a:t>
            </a: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PhD study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in ... research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You will be equipped to work internationally</a:t>
            </a:r>
            <a:r>
              <a:rPr lang="en-US" sz="3099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across ....</a:t>
            </a:r>
          </a:p>
          <a:p>
            <a:pPr algn="l">
              <a:lnSpc>
                <a:spcPts val="4339"/>
              </a:lnSpc>
            </a:pPr>
            <a:endParaRPr lang="en-US" sz="3099">
              <a:solidFill>
                <a:srgbClr val="01134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3941964" y="0"/>
            <a:ext cx="4346036" cy="5143500"/>
            <a:chOff x="0" y="0"/>
            <a:chExt cx="667254" cy="7896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7254" cy="789690"/>
            </a:xfrm>
            <a:custGeom>
              <a:avLst/>
              <a:gdLst/>
              <a:ahLst/>
              <a:cxnLst/>
              <a:rect l="l" t="t" r="r" b="b"/>
              <a:pathLst>
                <a:path w="667254" h="789690">
                  <a:moveTo>
                    <a:pt x="0" y="0"/>
                  </a:moveTo>
                  <a:lnTo>
                    <a:pt x="667254" y="0"/>
                  </a:lnTo>
                  <a:lnTo>
                    <a:pt x="667254" y="789690"/>
                  </a:lnTo>
                  <a:lnTo>
                    <a:pt x="0" y="789690"/>
                  </a:lnTo>
                  <a:close/>
                </a:path>
              </a:pathLst>
            </a:custGeom>
            <a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32762" y="242817"/>
            <a:ext cx="2053477" cy="205347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BBC6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465659" y="562408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195482" y="1161469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17144" y="538604"/>
            <a:ext cx="6829061" cy="144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Career Prospects &amp; Graduate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BB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23131" y="8756641"/>
            <a:ext cx="12641738" cy="1349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22"/>
              </a:lnSpc>
            </a:pPr>
            <a:r>
              <a:rPr lang="en-US" sz="3873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Got a question? </a:t>
            </a:r>
          </a:p>
          <a:p>
            <a:pPr algn="ctr">
              <a:lnSpc>
                <a:spcPts val="5422"/>
              </a:lnSpc>
            </a:pPr>
            <a:r>
              <a:rPr lang="en-US" sz="3873" i="1">
                <a:solidFill>
                  <a:srgbClr val="01134E"/>
                </a:solidFill>
                <a:latin typeface="Noto Serif Italics"/>
                <a:ea typeface="Noto Serif Italics"/>
                <a:cs typeface="Noto Serif Italics"/>
                <a:sym typeface="Noto Serif Italics"/>
              </a:rPr>
              <a:t>Contact [YOUR EMAIL]@glasgow.ac.uk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904754" y="0"/>
            <a:ext cx="9383246" cy="8031044"/>
            <a:chOff x="0" y="0"/>
            <a:chExt cx="1453710" cy="12442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3710" cy="1244219"/>
            </a:xfrm>
            <a:custGeom>
              <a:avLst/>
              <a:gdLst/>
              <a:ahLst/>
              <a:cxnLst/>
              <a:rect l="l" t="t" r="r" b="b"/>
              <a:pathLst>
                <a:path w="1453710" h="1244219">
                  <a:moveTo>
                    <a:pt x="0" y="0"/>
                  </a:moveTo>
                  <a:lnTo>
                    <a:pt x="1453710" y="0"/>
                  </a:lnTo>
                  <a:lnTo>
                    <a:pt x="1453710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9144000" cy="8031044"/>
            <a:chOff x="0" y="0"/>
            <a:chExt cx="1416645" cy="12442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6645" cy="1244219"/>
            </a:xfrm>
            <a:custGeom>
              <a:avLst/>
              <a:gdLst/>
              <a:ahLst/>
              <a:cxnLst/>
              <a:rect l="l" t="t" r="r" b="b"/>
              <a:pathLst>
                <a:path w="1416645" h="1244219">
                  <a:moveTo>
                    <a:pt x="0" y="0"/>
                  </a:moveTo>
                  <a:lnTo>
                    <a:pt x="1416645" y="0"/>
                  </a:lnTo>
                  <a:lnTo>
                    <a:pt x="1416645" y="1244219"/>
                  </a:lnTo>
                  <a:lnTo>
                    <a:pt x="0" y="1244219"/>
                  </a:lnTo>
                  <a:close/>
                </a:path>
              </a:pathLst>
            </a:custGeom>
            <a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0"/>
            <a:ext cx="4617144" cy="2493258"/>
          </a:xfrm>
          <a:custGeom>
            <a:avLst/>
            <a:gdLst/>
            <a:ahLst/>
            <a:cxnLst/>
            <a:rect l="l" t="t" r="r" b="b"/>
            <a:pathLst>
              <a:path w="4617144" h="2493258">
                <a:moveTo>
                  <a:pt x="0" y="0"/>
                </a:moveTo>
                <a:lnTo>
                  <a:pt x="4617144" y="0"/>
                </a:lnTo>
                <a:lnTo>
                  <a:pt x="4617144" y="2493258"/>
                </a:lnTo>
                <a:lnTo>
                  <a:pt x="0" y="249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998024" y="747195"/>
            <a:ext cx="5261276" cy="1746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506"/>
              </a:lnSpc>
            </a:pPr>
            <a:r>
              <a:rPr lang="en-US" sz="2504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Visit our programme page</a:t>
            </a:r>
            <a:r>
              <a:rPr lang="en-US" sz="2504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 to explore the full course structure, entry requirements, funding opportunities, and how to apply.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88480" y="6779364"/>
            <a:ext cx="2053477" cy="205347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D25C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21377" y="7098955"/>
            <a:ext cx="1187684" cy="580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7"/>
              </a:lnSpc>
            </a:pPr>
            <a:r>
              <a:rPr lang="en-US" sz="2470" b="1" i="1">
                <a:solidFill>
                  <a:srgbClr val="01134E"/>
                </a:solidFill>
                <a:latin typeface="Noto Serif Bold Italics"/>
                <a:ea typeface="Noto Serif Bold Italics"/>
                <a:cs typeface="Noto Serif Bold Italics"/>
                <a:sym typeface="Noto Serif Bold Italics"/>
              </a:rPr>
              <a:t>World Top 70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1201" y="7698016"/>
            <a:ext cx="1728036" cy="87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University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 Arts &amp;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Humanities</a:t>
            </a:r>
          </a:p>
          <a:p>
            <a:pPr algn="ctr">
              <a:lnSpc>
                <a:spcPts val="1749"/>
              </a:lnSpc>
            </a:pPr>
            <a:r>
              <a:rPr lang="en-US" sz="1482" b="1">
                <a:solidFill>
                  <a:srgbClr val="01134E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</a:t>
            </a:r>
            <a:r>
              <a:rPr lang="en-US" sz="1482">
                <a:solidFill>
                  <a:srgbClr val="01134E"/>
                </a:solidFill>
                <a:latin typeface="Noto Sans"/>
                <a:ea typeface="Noto Sans"/>
                <a:cs typeface="Noto Sans"/>
                <a:sym typeface="Noto Sans"/>
              </a:rPr>
              <a:t>QS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1ac35d-1ef7-4df4-8eb5-759b17f2efbc" xsi:nil="true"/>
    <lcf76f155ced4ddcb4097134ff3c332f xmlns="1be0ecf7-ca09-4d54-bbd0-197e3e2e0bd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E50B4E84BB304284EBB30D5B27CA76" ma:contentTypeVersion="19" ma:contentTypeDescription="Create a new document." ma:contentTypeScope="" ma:versionID="e0610bc1b334a56bcdb3f86728d69b13">
  <xsd:schema xmlns:xsd="http://www.w3.org/2001/XMLSchema" xmlns:xs="http://www.w3.org/2001/XMLSchema" xmlns:p="http://schemas.microsoft.com/office/2006/metadata/properties" xmlns:ns2="1be0ecf7-ca09-4d54-bbd0-197e3e2e0bd9" xmlns:ns3="521ac35d-1ef7-4df4-8eb5-759b17f2efbc" targetNamespace="http://schemas.microsoft.com/office/2006/metadata/properties" ma:root="true" ma:fieldsID="b9846002aa1037d4f2ed7c675991798d" ns2:_="" ns3:_="">
    <xsd:import namespace="1be0ecf7-ca09-4d54-bbd0-197e3e2e0bd9"/>
    <xsd:import namespace="521ac35d-1ef7-4df4-8eb5-759b17f2efb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e0ecf7-ca09-4d54-bbd0-197e3e2e0b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1ac35d-1ef7-4df4-8eb5-759b17f2efb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5eef5d4-f600-49a7-87cf-ae3480540e30}" ma:internalName="TaxCatchAll" ma:showField="CatchAllData" ma:web="521ac35d-1ef7-4df4-8eb5-759b17f2ef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EEED6D-BE14-448E-AAD5-FB626D31F005}">
  <ds:schemaRefs>
    <ds:schemaRef ds:uri="http://schemas.microsoft.com/office/2006/metadata/properties"/>
    <ds:schemaRef ds:uri="http://schemas.microsoft.com/office/infopath/2007/PartnerControls"/>
    <ds:schemaRef ds:uri="521ac35d-1ef7-4df4-8eb5-759b17f2efbc"/>
    <ds:schemaRef ds:uri="1be0ecf7-ca09-4d54-bbd0-197e3e2e0bd9"/>
  </ds:schemaRefs>
</ds:datastoreItem>
</file>

<file path=customXml/itemProps2.xml><?xml version="1.0" encoding="utf-8"?>
<ds:datastoreItem xmlns:ds="http://schemas.openxmlformats.org/officeDocument/2006/customXml" ds:itemID="{17DFAA13-B93C-4C4C-B711-8D3836945D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34696F-7A01-4303-B10E-7BE58FDB3F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be0ecf7-ca09-4d54-bbd0-197e3e2e0bd9"/>
    <ds:schemaRef ds:uri="521ac35d-1ef7-4df4-8eb5-759b17f2ef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706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Noto Sans</vt:lpstr>
      <vt:lpstr>Noto Serif Bold Italics</vt:lpstr>
      <vt:lpstr>Calibri</vt:lpstr>
      <vt:lpstr>Noto Sans Bold</vt:lpstr>
      <vt:lpstr>Noto Sans Italics</vt:lpstr>
      <vt:lpstr>Noto Serif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Programmes</dc:title>
  <dc:creator>Bryan</dc:creator>
  <cp:lastModifiedBy>Bryan Martin</cp:lastModifiedBy>
  <cp:revision>2</cp:revision>
  <dcterms:created xsi:type="dcterms:W3CDTF">2006-08-16T00:00:00Z</dcterms:created>
  <dcterms:modified xsi:type="dcterms:W3CDTF">2026-07-24T13:37:10Z</dcterms:modified>
  <dc:identifier>DAHOT1ZWBAo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0x010100FBE50B4E84BB304284EBB30D5B27CA76</vt:lpwstr>
  </property>
</Properties>
</file>