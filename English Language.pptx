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Noto Sans" panose="020B0502040504020204" pitchFamily="34" charset="0"/>
      <p:regular r:id="rId15"/>
      <p:bold r:id="rId16"/>
      <p:italic r:id="rId17"/>
      <p:boldItalic r:id="rId18"/>
    </p:embeddedFont>
    <p:embeddedFont>
      <p:font typeface="Noto Sans Bold" panose="020B0502040504020204" pitchFamily="34" charset="0"/>
      <p:regular r:id="rId19"/>
      <p:bold r:id="rId20"/>
    </p:embeddedFont>
    <p:embeddedFont>
      <p:font typeface="Noto Sans Italics" panose="020B0604020202020204" charset="0"/>
      <p:regular r:id="rId21"/>
    </p:embeddedFont>
    <p:embeddedFont>
      <p:font typeface="Noto Serif Bold Italics" panose="020B0604020202020204" charset="0"/>
      <p:regular r:id="rId22"/>
    </p:embeddedFont>
    <p:embeddedFont>
      <p:font typeface="Noto Serif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8247" y="0"/>
            <a:ext cx="8269753" cy="10287000"/>
            <a:chOff x="0" y="0"/>
            <a:chExt cx="1298599" cy="1615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599" cy="1615367"/>
            </a:xfrm>
            <a:custGeom>
              <a:avLst/>
              <a:gdLst/>
              <a:ahLst/>
              <a:cxnLst/>
              <a:rect l="l" t="t" r="r" b="b"/>
              <a:pathLst>
                <a:path w="1298599" h="1615367">
                  <a:moveTo>
                    <a:pt x="0" y="0"/>
                  </a:moveTo>
                  <a:lnTo>
                    <a:pt x="1298599" y="0"/>
                  </a:lnTo>
                  <a:lnTo>
                    <a:pt x="1298599" y="1615367"/>
                  </a:lnTo>
                  <a:lnTo>
                    <a:pt x="0" y="161536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527748" y="-66319"/>
            <a:ext cx="3474006" cy="2455575"/>
          </a:xfrm>
          <a:custGeom>
            <a:avLst/>
            <a:gdLst/>
            <a:ahLst/>
            <a:cxnLst/>
            <a:rect l="l" t="t" r="r" b="b"/>
            <a:pathLst>
              <a:path w="3474006" h="2455575">
                <a:moveTo>
                  <a:pt x="0" y="0"/>
                </a:moveTo>
                <a:lnTo>
                  <a:pt x="3474006" y="0"/>
                </a:lnTo>
                <a:lnTo>
                  <a:pt x="3474006" y="2455575"/>
                </a:lnTo>
                <a:lnTo>
                  <a:pt x="0" y="245557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613" y="3128533"/>
            <a:ext cx="7929577" cy="427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Studying [PROGRAMME NAME] MSc</a:t>
            </a:r>
          </a:p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at Glasgow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613" y="8133291"/>
            <a:ext cx="7929577" cy="93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936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Change how words connect us in the UK’s top city for culture and creativity*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59951" y="9773853"/>
            <a:ext cx="4078256" cy="23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4"/>
              </a:lnSpc>
            </a:pPr>
            <a:r>
              <a:rPr lang="en-US" sz="1531" i="1">
                <a:solidFill>
                  <a:srgbClr val="01134E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*European Commission,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8029" y="0"/>
            <a:ext cx="4299971" cy="10287000"/>
            <a:chOff x="0" y="0"/>
            <a:chExt cx="633617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617" cy="1515828"/>
            </a:xfrm>
            <a:custGeom>
              <a:avLst/>
              <a:gdLst/>
              <a:ahLst/>
              <a:cxnLst/>
              <a:rect l="l" t="t" r="r" b="b"/>
              <a:pathLst>
                <a:path w="633617" h="1515828">
                  <a:moveTo>
                    <a:pt x="0" y="0"/>
                  </a:moveTo>
                  <a:lnTo>
                    <a:pt x="633617" y="0"/>
                  </a:lnTo>
                  <a:lnTo>
                    <a:pt x="633617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598094" y="587562"/>
            <a:ext cx="8959068" cy="134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47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Introducing [PROGRAMME NAME] MSc at Glasgow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425" y="2472849"/>
            <a:ext cx="12974738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Headline 1: A one-year Masters programme that...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Headline 2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Headline 3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538604"/>
            <a:ext cx="1146875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Meet Your Programme Convenor</a:t>
            </a: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Professor/Dr...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8068" y="2683981"/>
            <a:ext cx="7902882" cy="173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Your role at UofG </a:t>
            </a:r>
          </a:p>
          <a:p>
            <a:pPr algn="l">
              <a:lnSpc>
                <a:spcPts val="1475"/>
              </a:lnSpc>
            </a:pPr>
            <a:endParaRPr lang="en-US" sz="295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Your research interests</a:t>
            </a:r>
          </a:p>
          <a:p>
            <a:pPr algn="l">
              <a:lnSpc>
                <a:spcPts val="4130"/>
              </a:lnSpc>
            </a:pPr>
            <a:endParaRPr lang="en-US" sz="295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794" y="2683981"/>
            <a:ext cx="8645088" cy="207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Key awards/recent publications </a:t>
            </a: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Other relevant info</a:t>
            </a:r>
          </a:p>
          <a:p>
            <a:pPr algn="l">
              <a:lnSpc>
                <a:spcPts val="4130"/>
              </a:lnSpc>
            </a:pPr>
            <a:endParaRPr lang="en-US" sz="295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130"/>
              </a:lnSpc>
            </a:pPr>
            <a:endParaRPr lang="en-US" sz="295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617144" y="538604"/>
            <a:ext cx="8467769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Study [PROGRAMME] Today?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9476" y="2540361"/>
            <a:ext cx="12452579" cy="268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COPY 1: What skills and knowledge will students gain?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COPY 2: What resources, equipment and/or networks will students have access to?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COPY 3: What challenges and careers will the programme prepare them for?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A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895792"/>
            <a:ext cx="10182701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Choose Glasgow?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1384" y="2509225"/>
            <a:ext cx="16607916" cy="668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Live and study in a city with one of the richest literary cultures in the world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– home to the Mitchell Library, one of Europe's largest public reference libraries, the Glasgow Women's Library, and a wealth of independent bookshops, writing spaces and literary venues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Home to over 100 cultural organisations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20+ museums and galleries, and four of Scotland's five national performing arts companies –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one of the world's top five student cities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as rated by students themselves (QS, 2025)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the creative hub of Scotland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home to 41% of its actors, dancers and broadcasters, 38% of its musicians, and 29% of its artists and graphic designers 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Join a Russell Group university community of 43,000 students from 140 countries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 global alumni network of over 300,000, and a city with deep local creative roots and genuine global reach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75972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756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Provide details of the opportunities available to students on your programme that support skills development, employability, and engagement with industry, e.g.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Practical and technical skills development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Industry engagement activities (e.g. guest speakers, live projects, site visits, networking events)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Student placements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Internships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Work-based learning opportunities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Professional development activities and accreditation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Applied or experiential learning approaches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Employer involvement in curriculum design, delivery, assessment, or student experiences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895792"/>
            <a:ext cx="846776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Skills Will I Develop?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6911" y="0"/>
            <a:ext cx="4701089" cy="10287000"/>
            <a:chOff x="0" y="0"/>
            <a:chExt cx="692723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723" cy="1515828"/>
            </a:xfrm>
            <a:custGeom>
              <a:avLst/>
              <a:gdLst/>
              <a:ahLst/>
              <a:cxnLst/>
              <a:rect l="l" t="t" r="r" b="b"/>
              <a:pathLst>
                <a:path w="692723" h="1515828">
                  <a:moveTo>
                    <a:pt x="0" y="0"/>
                  </a:moveTo>
                  <a:lnTo>
                    <a:pt x="692723" y="0"/>
                  </a:lnTo>
                  <a:lnTo>
                    <a:pt x="692723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64862"/>
            <a:ext cx="12351191" cy="268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[COURSE TITLE] + 1 sentence summary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[programme catalogue], the School of Critical Studies, and the College of Arts &amp; Humanities. Courses can include [EXAMPLE 1], [EXAMPLE 2], and [EXAMPLE 3].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A1C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C0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8710" y="4900553"/>
            <a:ext cx="2589290" cy="5386447"/>
            <a:chOff x="0" y="0"/>
            <a:chExt cx="384375" cy="7996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98710" y="0"/>
            <a:ext cx="2589290" cy="5143500"/>
            <a:chOff x="0" y="0"/>
            <a:chExt cx="384375" cy="763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1609" y="2514600"/>
            <a:ext cx="14462776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[TITLE] +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1 sentence summary.</a:t>
            </a:r>
          </a:p>
          <a:p>
            <a:pPr algn="l">
              <a:lnSpc>
                <a:spcPts val="1500"/>
              </a:lnSpc>
            </a:pPr>
            <a:endParaRPr lang="en-US" sz="300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(subject area) , the School of Critical Studies, and the College of Arts &amp; Humanities. Courses can include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[EXAMPLE 1], [EXAMPLE 2]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[EXAMPLE 3].</a:t>
            </a:r>
          </a:p>
          <a:p>
            <a:pPr algn="l">
              <a:lnSpc>
                <a:spcPts val="1500"/>
              </a:lnSpc>
            </a:pPr>
            <a:endParaRPr lang="en-US" sz="300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 the summer, you will undertake your Dissertation.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You will plan and execute a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 original research project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on a topic of your choosing, relevant to [PROGRAMME],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producing a substantial piece of writing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(approx. NUMBER words) This is the culmination of your studies, and an opportunity to explore a topic which matters to you and your future career.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2 &amp; Summer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1964" y="5143500"/>
            <a:ext cx="4346036" cy="5143500"/>
            <a:chOff x="0" y="0"/>
            <a:chExt cx="667254" cy="789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941964" y="0"/>
            <a:ext cx="4346036" cy="5143500"/>
            <a:chOff x="0" y="0"/>
            <a:chExt cx="667254" cy="7896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BBC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41859" y="2693437"/>
            <a:ext cx="12569685" cy="376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Graduates can go on to careers in...</a:t>
            </a:r>
          </a:p>
          <a:p>
            <a:pPr algn="l">
              <a:lnSpc>
                <a:spcPts val="4339"/>
              </a:lnSpc>
            </a:pPr>
            <a:endParaRPr lang="en-US" sz="30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The programme prepares you for 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employment in ...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PhD study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 ... research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 will be equipped to work internationally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....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Career Prospects &amp; Graduate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3131" y="8756641"/>
            <a:ext cx="12641738" cy="13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2"/>
              </a:lnSpc>
            </a:pPr>
            <a:r>
              <a:rPr lang="en-US" sz="3873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Got a question? </a:t>
            </a:r>
          </a:p>
          <a:p>
            <a:pPr algn="ctr">
              <a:lnSpc>
                <a:spcPts val="5422"/>
              </a:lnSpc>
            </a:pPr>
            <a:r>
              <a:rPr lang="en-US" sz="3873" i="1">
                <a:solidFill>
                  <a:srgbClr val="01134E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Contact [YOUR EMAIL]@glasgow.ac.uk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04754" y="0"/>
            <a:ext cx="9383246" cy="8031044"/>
            <a:chOff x="0" y="0"/>
            <a:chExt cx="1453710" cy="1244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3710" cy="1244219"/>
            </a:xfrm>
            <a:custGeom>
              <a:avLst/>
              <a:gdLst/>
              <a:ahLst/>
              <a:cxnLst/>
              <a:rect l="l" t="t" r="r" b="b"/>
              <a:pathLst>
                <a:path w="1453710" h="1244219">
                  <a:moveTo>
                    <a:pt x="0" y="0"/>
                  </a:moveTo>
                  <a:lnTo>
                    <a:pt x="1453710" y="0"/>
                  </a:lnTo>
                  <a:lnTo>
                    <a:pt x="1453710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144000" cy="8031044"/>
            <a:chOff x="0" y="0"/>
            <a:chExt cx="1416645" cy="1244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6645" cy="1244219"/>
            </a:xfrm>
            <a:custGeom>
              <a:avLst/>
              <a:gdLst/>
              <a:ahLst/>
              <a:cxnLst/>
              <a:rect l="l" t="t" r="r" b="b"/>
              <a:pathLst>
                <a:path w="1416645" h="1244219">
                  <a:moveTo>
                    <a:pt x="0" y="0"/>
                  </a:moveTo>
                  <a:lnTo>
                    <a:pt x="1416645" y="0"/>
                  </a:lnTo>
                  <a:lnTo>
                    <a:pt x="1416645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998024" y="747195"/>
            <a:ext cx="5261276" cy="174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6"/>
              </a:lnSpc>
            </a:pPr>
            <a:r>
              <a:rPr lang="en-US" sz="250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Visit our programme page</a:t>
            </a:r>
            <a:r>
              <a:rPr lang="en-US" sz="250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to explore the full course structure, entry requirements, funding opportunities, and how to apply.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8480" y="6779364"/>
            <a:ext cx="2053477" cy="205347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1377" y="7098955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201" y="7698016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ac35d-1ef7-4df4-8eb5-759b17f2efbc" xsi:nil="true"/>
    <lcf76f155ced4ddcb4097134ff3c332f xmlns="1be0ecf7-ca09-4d54-bbd0-197e3e2e0bd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50B4E84BB304284EBB30D5B27CA76" ma:contentTypeVersion="19" ma:contentTypeDescription="Create a new document." ma:contentTypeScope="" ma:versionID="e0610bc1b334a56bcdb3f86728d69b13">
  <xsd:schema xmlns:xsd="http://www.w3.org/2001/XMLSchema" xmlns:xs="http://www.w3.org/2001/XMLSchema" xmlns:p="http://schemas.microsoft.com/office/2006/metadata/properties" xmlns:ns2="1be0ecf7-ca09-4d54-bbd0-197e3e2e0bd9" xmlns:ns3="521ac35d-1ef7-4df4-8eb5-759b17f2efbc" targetNamespace="http://schemas.microsoft.com/office/2006/metadata/properties" ma:root="true" ma:fieldsID="b9846002aa1037d4f2ed7c675991798d" ns2:_="" ns3:_="">
    <xsd:import namespace="1be0ecf7-ca09-4d54-bbd0-197e3e2e0bd9"/>
    <xsd:import namespace="521ac35d-1ef7-4df4-8eb5-759b17f2e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e0ecf7-ca09-4d54-bbd0-197e3e2e0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ac35d-1ef7-4df4-8eb5-759b17f2e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eef5d4-f600-49a7-87cf-ae3480540e30}" ma:internalName="TaxCatchAll" ma:showField="CatchAllData" ma:web="521ac35d-1ef7-4df4-8eb5-759b17f2e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7CCCE2-A566-44A2-9694-5ABA904A9EC9}">
  <ds:schemaRefs>
    <ds:schemaRef ds:uri="http://schemas.microsoft.com/office/2006/metadata/properties"/>
    <ds:schemaRef ds:uri="http://schemas.microsoft.com/office/infopath/2007/PartnerControls"/>
    <ds:schemaRef ds:uri="521ac35d-1ef7-4df4-8eb5-759b17f2efbc"/>
    <ds:schemaRef ds:uri="1be0ecf7-ca09-4d54-bbd0-197e3e2e0bd9"/>
  </ds:schemaRefs>
</ds:datastoreItem>
</file>

<file path=customXml/itemProps2.xml><?xml version="1.0" encoding="utf-8"?>
<ds:datastoreItem xmlns:ds="http://schemas.openxmlformats.org/officeDocument/2006/customXml" ds:itemID="{D3597688-AB43-4D6A-93CE-EF8C592DDA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CC93F5-FB78-4EB7-BF9A-5691E6DEA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e0ecf7-ca09-4d54-bbd0-197e3e2e0bd9"/>
    <ds:schemaRef ds:uri="521ac35d-1ef7-4df4-8eb5-759b17f2e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690</Words>
  <Application>Microsoft Office PowerPoint</Application>
  <PresentationFormat>Custom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Noto Sans</vt:lpstr>
      <vt:lpstr>Noto Serif Bold Italics</vt:lpstr>
      <vt:lpstr>Noto Sans Bold</vt:lpstr>
      <vt:lpstr>Noto Sans Italics</vt:lpstr>
      <vt:lpstr>Noto Serif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ELL Programmes</dc:title>
  <dc:creator>Bryan</dc:creator>
  <cp:lastModifiedBy>Bryan Martin</cp:lastModifiedBy>
  <cp:revision>2</cp:revision>
  <dcterms:created xsi:type="dcterms:W3CDTF">2006-08-16T00:00:00Z</dcterms:created>
  <dcterms:modified xsi:type="dcterms:W3CDTF">2026-07-24T13:31:52Z</dcterms:modified>
  <dc:identifier>DAHN9eAqthk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0x010100FBE50B4E84BB304284EBB30D5B27CA76</vt:lpwstr>
  </property>
</Properties>
</file>