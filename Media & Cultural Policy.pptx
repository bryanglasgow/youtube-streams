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8288000" cy="10287000"/>
  <p:notesSz cx="6858000" cy="9144000"/>
  <p:embeddedFontLst>
    <p:embeddedFont>
      <p:font typeface="Noto Sans" panose="020B0502040504020204" pitchFamily="34" charset="0"/>
      <p:regular r:id="rId16"/>
      <p:bold r:id="rId17"/>
      <p:italic r:id="rId18"/>
      <p:boldItalic r:id="rId19"/>
    </p:embeddedFont>
    <p:embeddedFont>
      <p:font typeface="Noto Sans Bold" panose="020B0502040504020204" pitchFamily="34" charset="0"/>
      <p:regular r:id="rId20"/>
      <p:bold r:id="rId21"/>
    </p:embeddedFont>
    <p:embeddedFont>
      <p:font typeface="Noto Sans Italics" panose="020B0604020202020204" charset="0"/>
      <p:regular r:id="rId22"/>
    </p:embeddedFont>
    <p:embeddedFont>
      <p:font typeface="Noto Serif Bold Italics" panose="020B0604020202020204" charset="0"/>
      <p:regular r:id="rId23"/>
    </p:embeddedFont>
    <p:embeddedFont>
      <p:font typeface="Noto Serif Italics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43711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MSc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861807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the future of global culture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MSc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36108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1:  </a:t>
            </a: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Key awards and 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469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1: 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What skills and knowledge will students gain?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2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resources, equipment and/or networks will students have access to?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3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challenges and careers will the programme prepare them for? 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384" y="2509225"/>
            <a:ext cx="16607916" cy="720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We’re a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World Top 70 University for Arts &amp; Humanities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(QS, 2026) in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UK's friendliest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(Condé Nast, 2025) –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UK’s first UNESCO City of Music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recognised as its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top cultural and creative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(European Commission, 2019), and host of major global events including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COP26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2026 Commonwealth Games</a:t>
            </a:r>
          </a:p>
          <a:p>
            <a:pPr algn="l">
              <a:lnSpc>
                <a:spcPts val="1457"/>
              </a:lnSpc>
            </a:pPr>
            <a:endParaRPr lang="en-US" sz="2914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 to over 100 cultural organisations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20+ museums and galleries, and four of Scotland's five national performing arts companies –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one of the world's top five student cities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as rated by students themselves (QS, 2025)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 – an unrivalled place to study, network and begin a career in cultural enterprise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6170999" y="590660"/>
            <a:ext cx="1689800" cy="914622"/>
          </a:xfrm>
          <a:custGeom>
            <a:avLst/>
            <a:gdLst/>
            <a:ahLst/>
            <a:cxnLst/>
            <a:rect l="l" t="t" r="r" b="b"/>
            <a:pathLst>
              <a:path w="1689800" h="914622">
                <a:moveTo>
                  <a:pt x="0" y="0"/>
                </a:moveTo>
                <a:lnTo>
                  <a:pt x="1689800" y="0"/>
                </a:lnTo>
                <a:lnTo>
                  <a:pt x="1689800" y="914622"/>
                </a:lnTo>
                <a:lnTo>
                  <a:pt x="0" y="914622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4549951" y="532956"/>
            <a:ext cx="1724269" cy="981851"/>
          </a:xfrm>
          <a:custGeom>
            <a:avLst/>
            <a:gdLst/>
            <a:ahLst/>
            <a:cxnLst/>
            <a:rect l="l" t="t" r="r" b="b"/>
            <a:pathLst>
              <a:path w="1724269" h="981851">
                <a:moveTo>
                  <a:pt x="0" y="0"/>
                </a:moveTo>
                <a:lnTo>
                  <a:pt x="1724269" y="0"/>
                </a:lnTo>
                <a:lnTo>
                  <a:pt x="1724269" y="981851"/>
                </a:lnTo>
                <a:lnTo>
                  <a:pt x="0" y="98185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14185" t="-12081" b="-941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5185126" y="5411935"/>
            <a:ext cx="1994807" cy="839161"/>
          </a:xfrm>
          <a:custGeom>
            <a:avLst/>
            <a:gdLst/>
            <a:ahLst/>
            <a:cxnLst/>
            <a:rect l="l" t="t" r="r" b="b"/>
            <a:pathLst>
              <a:path w="1994807" h="839161">
                <a:moveTo>
                  <a:pt x="0" y="0"/>
                </a:moveTo>
                <a:lnTo>
                  <a:pt x="1994807" y="0"/>
                </a:lnTo>
                <a:lnTo>
                  <a:pt x="1994807" y="839161"/>
                </a:lnTo>
                <a:lnTo>
                  <a:pt x="0" y="839161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4567786" y="2517555"/>
            <a:ext cx="1820798" cy="1024199"/>
          </a:xfrm>
          <a:custGeom>
            <a:avLst/>
            <a:gdLst/>
            <a:ahLst/>
            <a:cxnLst/>
            <a:rect l="l" t="t" r="r" b="b"/>
            <a:pathLst>
              <a:path w="1820798" h="1024199">
                <a:moveTo>
                  <a:pt x="0" y="0"/>
                </a:moveTo>
                <a:lnTo>
                  <a:pt x="1820798" y="0"/>
                </a:lnTo>
                <a:lnTo>
                  <a:pt x="1820798" y="1024199"/>
                </a:lnTo>
                <a:lnTo>
                  <a:pt x="0" y="1024199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4392" y="2669578"/>
            <a:ext cx="13170539" cy="686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Connect with our leading local and national cultural partner organisations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including Creative Glasgow, SWG3, BBC, Glasgow Life, British Film Institute, BAFTA, Screen Scotland, WASPS, and the Department for Digital, Culture, Media and Sport – through guest lectures, live briefs, case studies and project pitching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Engage with major international bodies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including UNESCO and the EU, gaining insight into how culture is governed, funded and developed at the highest global level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Learn directly from our international partners,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including arts managers from Murara Arts and the Hong Kong Dance Company, VR/AR artists based in Singapore, and film producers working across China and the United States</a:t>
            </a:r>
          </a:p>
        </p:txBody>
      </p:sp>
      <p:sp>
        <p:nvSpPr>
          <p:cNvPr id="8" name="Freeform 8"/>
          <p:cNvSpPr/>
          <p:nvPr/>
        </p:nvSpPr>
        <p:spPr>
          <a:xfrm>
            <a:off x="14567786" y="1596947"/>
            <a:ext cx="3151408" cy="920608"/>
          </a:xfrm>
          <a:custGeom>
            <a:avLst/>
            <a:gdLst/>
            <a:ahLst/>
            <a:cxnLst/>
            <a:rect l="l" t="t" r="r" b="b"/>
            <a:pathLst>
              <a:path w="3151408" h="920608">
                <a:moveTo>
                  <a:pt x="0" y="0"/>
                </a:moveTo>
                <a:lnTo>
                  <a:pt x="3151408" y="0"/>
                </a:lnTo>
                <a:lnTo>
                  <a:pt x="3151408" y="920608"/>
                </a:lnTo>
                <a:lnTo>
                  <a:pt x="0" y="9206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4567786" y="3637004"/>
            <a:ext cx="2429063" cy="767072"/>
          </a:xfrm>
          <a:custGeom>
            <a:avLst/>
            <a:gdLst/>
            <a:ahLst/>
            <a:cxnLst/>
            <a:rect l="l" t="t" r="r" b="b"/>
            <a:pathLst>
              <a:path w="2429063" h="767072">
                <a:moveTo>
                  <a:pt x="0" y="0"/>
                </a:moveTo>
                <a:lnTo>
                  <a:pt x="2429063" y="0"/>
                </a:lnTo>
                <a:lnTo>
                  <a:pt x="2429063" y="767072"/>
                </a:lnTo>
                <a:lnTo>
                  <a:pt x="0" y="7670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4549951" y="4648199"/>
            <a:ext cx="3169244" cy="792311"/>
          </a:xfrm>
          <a:custGeom>
            <a:avLst/>
            <a:gdLst/>
            <a:ahLst/>
            <a:cxnLst/>
            <a:rect l="l" t="t" r="r" b="b"/>
            <a:pathLst>
              <a:path w="3169244" h="792311">
                <a:moveTo>
                  <a:pt x="0" y="0"/>
                </a:moveTo>
                <a:lnTo>
                  <a:pt x="3169243" y="0"/>
                </a:lnTo>
                <a:lnTo>
                  <a:pt x="3169243" y="792311"/>
                </a:lnTo>
                <a:lnTo>
                  <a:pt x="0" y="792311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14549951" y="7572089"/>
            <a:ext cx="3274422" cy="691118"/>
          </a:xfrm>
          <a:custGeom>
            <a:avLst/>
            <a:gdLst/>
            <a:ahLst/>
            <a:cxnLst/>
            <a:rect l="l" t="t" r="r" b="b"/>
            <a:pathLst>
              <a:path w="3274422" h="691118">
                <a:moveTo>
                  <a:pt x="0" y="0"/>
                </a:moveTo>
                <a:lnTo>
                  <a:pt x="3274421" y="0"/>
                </a:lnTo>
                <a:lnTo>
                  <a:pt x="3274421" y="691118"/>
                </a:lnTo>
                <a:lnTo>
                  <a:pt x="0" y="6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16274220" y="6066547"/>
            <a:ext cx="1618549" cy="1451934"/>
          </a:xfrm>
          <a:custGeom>
            <a:avLst/>
            <a:gdLst/>
            <a:ahLst/>
            <a:cxnLst/>
            <a:rect l="l" t="t" r="r" b="b"/>
            <a:pathLst>
              <a:path w="1618549" h="1451934">
                <a:moveTo>
                  <a:pt x="0" y="0"/>
                </a:moveTo>
                <a:lnTo>
                  <a:pt x="1618549" y="0"/>
                </a:lnTo>
                <a:lnTo>
                  <a:pt x="1618549" y="1451934"/>
                </a:lnTo>
                <a:lnTo>
                  <a:pt x="0" y="14519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6535494" y="8457261"/>
            <a:ext cx="1288879" cy="1288879"/>
          </a:xfrm>
          <a:custGeom>
            <a:avLst/>
            <a:gdLst/>
            <a:ahLst/>
            <a:cxnLst/>
            <a:rect l="l" t="t" r="r" b="b"/>
            <a:pathLst>
              <a:path w="1288879" h="1288879">
                <a:moveTo>
                  <a:pt x="0" y="0"/>
                </a:moveTo>
                <a:lnTo>
                  <a:pt x="1288878" y="0"/>
                </a:lnTo>
                <a:lnTo>
                  <a:pt x="1288878" y="1288879"/>
                </a:lnTo>
                <a:lnTo>
                  <a:pt x="0" y="1288879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14239757" y="8457261"/>
            <a:ext cx="2148827" cy="1288879"/>
          </a:xfrm>
          <a:custGeom>
            <a:avLst/>
            <a:gdLst/>
            <a:ahLst/>
            <a:cxnLst/>
            <a:rect l="l" t="t" r="r" b="b"/>
            <a:pathLst>
              <a:path w="2148827" h="1288879">
                <a:moveTo>
                  <a:pt x="0" y="0"/>
                </a:moveTo>
                <a:lnTo>
                  <a:pt x="2148827" y="0"/>
                </a:lnTo>
                <a:lnTo>
                  <a:pt x="2148827" y="1288879"/>
                </a:lnTo>
                <a:lnTo>
                  <a:pt x="0" y="128887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3658" b="-1138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Freeform 15"/>
          <p:cNvSpPr/>
          <p:nvPr/>
        </p:nvSpPr>
        <p:spPr>
          <a:xfrm>
            <a:off x="16630519" y="2642772"/>
            <a:ext cx="1371862" cy="1402760"/>
          </a:xfrm>
          <a:custGeom>
            <a:avLst/>
            <a:gdLst/>
            <a:ahLst/>
            <a:cxnLst/>
            <a:rect l="l" t="t" r="r" b="b"/>
            <a:pathLst>
              <a:path w="1371862" h="1402760">
                <a:moveTo>
                  <a:pt x="0" y="0"/>
                </a:moveTo>
                <a:lnTo>
                  <a:pt x="1371862" y="0"/>
                </a:lnTo>
                <a:lnTo>
                  <a:pt x="1371862" y="1402759"/>
                </a:lnTo>
                <a:lnTo>
                  <a:pt x="0" y="14027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Freeform 16"/>
          <p:cNvSpPr/>
          <p:nvPr/>
        </p:nvSpPr>
        <p:spPr>
          <a:xfrm>
            <a:off x="14518470" y="5980822"/>
            <a:ext cx="1755749" cy="1273400"/>
          </a:xfrm>
          <a:custGeom>
            <a:avLst/>
            <a:gdLst/>
            <a:ahLst/>
            <a:cxnLst/>
            <a:rect l="l" t="t" r="r" b="b"/>
            <a:pathLst>
              <a:path w="1755749" h="1273400">
                <a:moveTo>
                  <a:pt x="0" y="0"/>
                </a:moveTo>
                <a:lnTo>
                  <a:pt x="1755750" y="0"/>
                </a:lnTo>
                <a:lnTo>
                  <a:pt x="1755750" y="1273400"/>
                </a:lnTo>
                <a:lnTo>
                  <a:pt x="0" y="1273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TextBox 17"/>
          <p:cNvSpPr txBox="1"/>
          <p:nvPr/>
        </p:nvSpPr>
        <p:spPr>
          <a:xfrm>
            <a:off x="4617144" y="561531"/>
            <a:ext cx="881700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Our Subject Area’s Industry Partners &amp;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322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+ 1 - 2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 Culture &amp; Creative Arts, and the College of Arts &amp; Humanities. Courses can include [EXAMPLE 1], [EXAMPLE 2], and [EXAMPLE 3].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1 - 2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, the School of Culture &amp; Creative Arts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698710" y="4983926"/>
            <a:ext cx="2589290" cy="5386447"/>
            <a:chOff x="0" y="0"/>
            <a:chExt cx="384375" cy="7996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98710" y="-19050"/>
            <a:ext cx="2589290" cy="5143500"/>
            <a:chOff x="0" y="0"/>
            <a:chExt cx="384375" cy="7635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93437"/>
            <a:ext cx="12569685" cy="376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E5C1A2-E47A-4294-9AA7-9D1EE83196F5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D8844BAC-E606-4EC8-B625-F24572120D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A7D163-2B2E-4200-BDC3-78591EA9ED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Microsoft Office PowerPoint</Application>
  <PresentationFormat>Custom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Noto Sans Bold</vt:lpstr>
      <vt:lpstr>Calibri</vt:lpstr>
      <vt:lpstr>Noto Sans</vt:lpstr>
      <vt:lpstr>Noto Sans Italics</vt:lpstr>
      <vt:lpstr>Noto Serif Italics</vt:lpstr>
      <vt:lpstr>Noto Serif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 &amp; Cultural Policy Programmes</dc:title>
  <dc:creator>Bryan</dc:creator>
  <cp:lastModifiedBy>Bryan Martin</cp:lastModifiedBy>
  <cp:revision>2</cp:revision>
  <dcterms:created xsi:type="dcterms:W3CDTF">2006-08-16T00:00:00Z</dcterms:created>
  <dcterms:modified xsi:type="dcterms:W3CDTF">2026-07-24T13:42:22Z</dcterms:modified>
  <dc:identifier>DAHPcqHpO14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